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17a0bdf212482f" /><Relationship Type="http://schemas.openxmlformats.org/officeDocument/2006/relationships/extended-properties" Target="/docProps/app.xml" Id="R3c24c2977e96431e" /><Relationship Type="http://schemas.openxmlformats.org/officeDocument/2006/relationships/officeDocument" Target="/ppt/presentation.xml" Id="R1c28e96e3e4d46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137af199c541cf"/>
  </p:sldMasterIdLst>
  <p:notesMasterIdLst>
    <p:notesMasterId xmlns:r="http://schemas.openxmlformats.org/officeDocument/2006/relationships" r:id="Rcc9c74d1954a493e"/>
  </p:notesMasterIdLst>
  <p:sldIdLst>
    <p:sldId xmlns:r="http://schemas.openxmlformats.org/officeDocument/2006/relationships" id="256" r:id="Rbefd76bd060f4a21"/>
    <p:sldId xmlns:r="http://schemas.openxmlformats.org/officeDocument/2006/relationships" id="257" r:id="R47db7cf07d314e6e"/>
    <p:sldId xmlns:r="http://schemas.openxmlformats.org/officeDocument/2006/relationships" id="258" r:id="R76ea4f338d62494c"/>
    <p:sldId xmlns:r="http://schemas.openxmlformats.org/officeDocument/2006/relationships" id="259" r:id="Rf1fcc4f48d7141a7"/>
    <p:sldId xmlns:r="http://schemas.openxmlformats.org/officeDocument/2006/relationships" id="260" r:id="Rc1461c2d552c4aa0"/>
    <p:sldId xmlns:r="http://schemas.openxmlformats.org/officeDocument/2006/relationships" id="261" r:id="R9cabd18e205d4786"/>
    <p:sldId xmlns:r="http://schemas.openxmlformats.org/officeDocument/2006/relationships" id="262" r:id="Rb968d5ec04d24152"/>
    <p:sldId xmlns:r="http://schemas.openxmlformats.org/officeDocument/2006/relationships" id="263" r:id="R4954f9da933c472f"/>
    <p:sldId xmlns:r="http://schemas.openxmlformats.org/officeDocument/2006/relationships" id="264" r:id="Rb0c4e2fb4ecb4e05"/>
    <p:sldId xmlns:r="http://schemas.openxmlformats.org/officeDocument/2006/relationships" id="265" r:id="R7feb90e8aad64137"/>
    <p:sldId xmlns:r="http://schemas.openxmlformats.org/officeDocument/2006/relationships" id="266" r:id="R7f13fe1da2c44239"/>
    <p:sldId xmlns:r="http://schemas.openxmlformats.org/officeDocument/2006/relationships" id="267" r:id="Rc54170e40dac4977"/>
    <p:sldId xmlns:r="http://schemas.openxmlformats.org/officeDocument/2006/relationships" id="268" r:id="R2acd8e65f6ab4c35"/>
    <p:sldId xmlns:r="http://schemas.openxmlformats.org/officeDocument/2006/relationships" id="269" r:id="R80a50deb8c5d4eed"/>
    <p:sldId xmlns:r="http://schemas.openxmlformats.org/officeDocument/2006/relationships" id="270" r:id="Rb3eeed8d33a2417d"/>
    <p:sldId xmlns:r="http://schemas.openxmlformats.org/officeDocument/2006/relationships" id="271" r:id="R04352da154704d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91148119c549c9" /><Relationship Type="http://schemas.openxmlformats.org/officeDocument/2006/relationships/slideMaster" Target="/ppt/slideMasters/slideMaster1.xml" Id="R9f137af199c541cf" /><Relationship Type="http://schemas.openxmlformats.org/officeDocument/2006/relationships/notesMaster" Target="/ppt/notesMasters/notesMaster1.xml" Id="Rcc9c74d1954a493e" /><Relationship Type="http://schemas.openxmlformats.org/officeDocument/2006/relationships/presProps" Target="/ppt/presProps.xml" Id="R88f6101338ff4f71" /><Relationship Type="http://schemas.openxmlformats.org/officeDocument/2006/relationships/tableStyles" Target="/ppt/tableStyles.xml" Id="R83381bc2ef394ddb" /><Relationship Type="http://schemas.openxmlformats.org/officeDocument/2006/relationships/slide" Target="/ppt/slides/slide1.xml" Id="Rbefd76bd060f4a21" /><Relationship Type="http://schemas.openxmlformats.org/officeDocument/2006/relationships/slide" Target="/ppt/slides/slide2.xml" Id="R47db7cf07d314e6e" /><Relationship Type="http://schemas.openxmlformats.org/officeDocument/2006/relationships/slide" Target="/ppt/slides/slide3.xml" Id="R76ea4f338d62494c" /><Relationship Type="http://schemas.openxmlformats.org/officeDocument/2006/relationships/slide" Target="/ppt/slides/slide4.xml" Id="Rf1fcc4f48d7141a7" /><Relationship Type="http://schemas.openxmlformats.org/officeDocument/2006/relationships/slide" Target="/ppt/slides/slide5.xml" Id="Rc1461c2d552c4aa0" /><Relationship Type="http://schemas.openxmlformats.org/officeDocument/2006/relationships/slide" Target="/ppt/slides/slide6.xml" Id="R9cabd18e205d4786" /><Relationship Type="http://schemas.openxmlformats.org/officeDocument/2006/relationships/slide" Target="/ppt/slides/slide7.xml" Id="Rb968d5ec04d24152" /><Relationship Type="http://schemas.openxmlformats.org/officeDocument/2006/relationships/slide" Target="/ppt/slides/slide8.xml" Id="R4954f9da933c472f" /><Relationship Type="http://schemas.openxmlformats.org/officeDocument/2006/relationships/slide" Target="/ppt/slides/slide9.xml" Id="Rb0c4e2fb4ecb4e05" /><Relationship Type="http://schemas.openxmlformats.org/officeDocument/2006/relationships/slide" Target="/ppt/slides/slide10.xml" Id="R7feb90e8aad64137" /><Relationship Type="http://schemas.openxmlformats.org/officeDocument/2006/relationships/slide" Target="/ppt/slides/slide11.xml" Id="R7f13fe1da2c44239" /><Relationship Type="http://schemas.openxmlformats.org/officeDocument/2006/relationships/slide" Target="/ppt/slides/slide12.xml" Id="Rc54170e40dac4977" /><Relationship Type="http://schemas.openxmlformats.org/officeDocument/2006/relationships/slide" Target="/ppt/slides/slide13.xml" Id="R2acd8e65f6ab4c35" /><Relationship Type="http://schemas.openxmlformats.org/officeDocument/2006/relationships/slide" Target="/ppt/slides/slide14.xml" Id="R80a50deb8c5d4eed" /><Relationship Type="http://schemas.openxmlformats.org/officeDocument/2006/relationships/slide" Target="/ppt/slides/slide15.xml" Id="Rb3eeed8d33a2417d" /><Relationship Type="http://schemas.openxmlformats.org/officeDocument/2006/relationships/slide" Target="/ppt/slides/slide16.xml" Id="R04352da154704d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af4b565c0d4b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37cc001ea4a3a" /><Relationship Type="http://schemas.openxmlformats.org/officeDocument/2006/relationships/notesMaster" Target="/ppt/notesMasters/notesMaster1.xml" Id="Rcaa4f2728eed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4568bc012f4338" /><Relationship Type="http://schemas.openxmlformats.org/officeDocument/2006/relationships/notesMaster" Target="/ppt/notesMasters/notesMaster1.xml" Id="R7aa7a63e0ae34f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2e7497593242c6" /><Relationship Type="http://schemas.openxmlformats.org/officeDocument/2006/relationships/notesMaster" Target="/ppt/notesMasters/notesMaster1.xml" Id="R7202d3dd81934d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8ff48b086a4384" /><Relationship Type="http://schemas.openxmlformats.org/officeDocument/2006/relationships/notesMaster" Target="/ppt/notesMasters/notesMaster1.xml" Id="R07c6a092e21645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3070ceca3248af" /><Relationship Type="http://schemas.openxmlformats.org/officeDocument/2006/relationships/notesMaster" Target="/ppt/notesMasters/notesMaster1.xml" Id="R496199b6a5c34f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44daff86e3446c" /><Relationship Type="http://schemas.openxmlformats.org/officeDocument/2006/relationships/notesMaster" Target="/ppt/notesMasters/notesMaster1.xml" Id="R7459fc4b9d4f4b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977c485f5d4a3a" /><Relationship Type="http://schemas.openxmlformats.org/officeDocument/2006/relationships/notesMaster" Target="/ppt/notesMasters/notesMaster1.xml" Id="R7781b5e0846140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9b5d40d36345ec" /><Relationship Type="http://schemas.openxmlformats.org/officeDocument/2006/relationships/notesMaster" Target="/ppt/notesMasters/notesMaster1.xml" Id="Rb048d01b291a4d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6a59940a274acf" /><Relationship Type="http://schemas.openxmlformats.org/officeDocument/2006/relationships/notesMaster" Target="/ppt/notesMasters/notesMaster1.xml" Id="R87f1d90357ba47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db7c6ba7d74dfa" /><Relationship Type="http://schemas.openxmlformats.org/officeDocument/2006/relationships/notesMaster" Target="/ppt/notesMasters/notesMaster1.xml" Id="Ra6c0bc8d180044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f2d3aa55694fa0" /><Relationship Type="http://schemas.openxmlformats.org/officeDocument/2006/relationships/notesMaster" Target="/ppt/notesMasters/notesMaster1.xml" Id="R1f77dc978ad84d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7419af58c7440d" /><Relationship Type="http://schemas.openxmlformats.org/officeDocument/2006/relationships/notesMaster" Target="/ppt/notesMasters/notesMaster1.xml" Id="R9d1467238f4840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1ac77e0e2f4b9b" /><Relationship Type="http://schemas.openxmlformats.org/officeDocument/2006/relationships/notesMaster" Target="/ppt/notesMasters/notesMaster1.xml" Id="R6e9b06c3af124e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404531cba94403" /><Relationship Type="http://schemas.openxmlformats.org/officeDocument/2006/relationships/notesMaster" Target="/ppt/notesMasters/notesMaster1.xml" Id="Re1a0efaa39d041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7b1da1aa2c4b6f" /><Relationship Type="http://schemas.openxmlformats.org/officeDocument/2006/relationships/notesMaster" Target="/ppt/notesMasters/notesMaster1.xml" Id="R3448e1eef3a44c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73e112add84520" /><Relationship Type="http://schemas.openxmlformats.org/officeDocument/2006/relationships/notesMaster" Target="/ppt/notesMasters/notesMaster1.xml" Id="Rf6ba8a5b871444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Finora as a Java web application for recording expenses, setting category budgets, and tracking financial goals. The presentation describes the implementation in this project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README.md. Explain the problem Finora addresses and the current scope: expense tracking, category budgets, goals, separate user/admin areas, and JDBC with SQLite.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AppServlet.java; AdminServlet.java. User records are scoped to the signed-in owner. Administrator actions require admin access; the code includes safeguards against disabling the current admin or removing the last active admin.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AppServlet.java; ExpenseDao.java; dashboard.jsp; expenses.jsp. Walk through the request: authenticate, enter and review values, validate and persist, then compute updated views from the saved expense.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dashboard.jsp; AppServlet.java; ExpenseDao.java; BudgetDao.java; GoalDao.java. Do not use sample financial values on this slide: it describes the dashboard blocks without exposing personal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quick-entry.js; expenses.jsp; ExpenseDao.java. Quick entry is a text parser for description, amount, category and today/yesterday. It does not save automatically. macOS Dictation may be used to fill the text box. The unreliable browser speech recognition flow is not implemented in the current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BudgetDao.java; Budget.java; budgets.jsp; README.md. The date range is inclusive. Eligible expenses are summed by owner and category; amounts use integer paise in the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Goal.java; GoalDao.java; goals.jsp; dashboard.jsp. The goal stores title, target amount, saved amount and deadline; the UI presents progress.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RecurringExpense.java; RecurringExpenseDao.java; budgets.jsp or relevant recurring-expense view; README.md. Recurrences are weekly, monthly or yearly. Due occurrences are manually recorded; historical expenses remain after a reminder is paused or deleted.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AdminServlet.java; AdminDao classes; admin.jsp; README.md. Account removal can also remove its finance data, so describe this function clearly in a live demo. Admin controls include account safeguards, settings, activity, audit CSV and encryption-key rotation.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web.xml; AuthFilter.java; CsrfFilter.java; SecurityHeadersFilter.java; AppServlet.java; AdminServlet.java; DAO classes; JSP views. Emphasize separation between request handling and database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Database.java; model classes; DAO classes; README.md. There are users, expenses, recurring_expenses, budgets, goals, audit_logs and app_settings tables. Amounts are integer paise. Finance record DAO queries are scoped to the owner, and encrypted payloads are decrypted for application-side aggregation.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PasswordHasher.java; FinanceCipher.java; CsrfFilter.java; SecurityHeadersFilter.java; AuthFilter.java; README.md. Avoid claiming that a local demo is production-ready. The keyring must be backed up securely and separately from the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pom.xml. Runtime prerequisites: JDK 17+, Maven 3.9+, Tomcat 10.1+. Build with `mvn clean package`; deploy target/finora.war. Configure credentials via environment variables and keep real secrets out of source control. The application is currently locally hosted.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Security and deployment notes. This project currently runs locally. Do not imply client-ready public access. README identifies managed key storage, HTTPS, rate limiting, account recovery and a reviewed privacy policy as production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Rubric alignment; supplied assignment screenshots. The web rubric totals 33 marks (8 + 10 + 8 + 7). This is a mapping of project evidence, not a guaranteed score. Finora is a web app, so the web-based rubric is the direct match; confirm with the evaluator if they expect the separate Java GUI rubric.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19fbaa2664e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3d7df506642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db3fb6e1a45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594ac9e4646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543ff028e46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c589496ee4b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8D4849-4BF2-4A8E-8764-9EBDF1E364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A273E2-55D9-453D-AE71-1526DC1FC4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AB9315-5E1A-4AB7-B10B-180C22844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5CA6D8-B893-4300-9175-76F522FEC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AA1FC7-A280-4362-A882-18B4591BF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0E7709-A93D-4C5E-AF84-98C8379F3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D0572B-A693-41EA-8968-919312ECAA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76B813-D5EE-4A37-AAEA-5936F96E7E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5B8AEB-360D-4206-BA7B-9CAFB4240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3FF134-C767-42E3-9E87-354B381864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4c5ddeb74f4270" /><Relationship Type="http://schemas.openxmlformats.org/officeDocument/2006/relationships/slideLayout" Target="/ppt/slideLayouts/slideLayout1.xml" Id="R22cc3dbd994849da" /><Relationship Type="http://schemas.openxmlformats.org/officeDocument/2006/relationships/slideLayout" Target="/ppt/slideLayouts/slideLayout2.xml" Id="Rb2814baf75284f8b" /><Relationship Type="http://schemas.openxmlformats.org/officeDocument/2006/relationships/slideLayout" Target="/ppt/slideLayouts/slideLayout3.xml" Id="Rd27c1930792c439a" /><Relationship Type="http://schemas.openxmlformats.org/officeDocument/2006/relationships/slideLayout" Target="/ppt/slideLayouts/slideLayout4.xml" Id="Rb3edf3edfd2444ed" /><Relationship Type="http://schemas.openxmlformats.org/officeDocument/2006/relationships/slideLayout" Target="/ppt/slideLayouts/slideLayout5.xml" Id="R9daa797d614a40d3" /><Relationship Type="http://schemas.openxmlformats.org/officeDocument/2006/relationships/slideLayout" Target="/ppt/slideLayouts/slideLayout6.xml" Id="R670b74c610f9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c3dbd994849da"/>
    <p:sldLayoutId xmlns:r="http://schemas.openxmlformats.org/officeDocument/2006/relationships" id="2147483650" r:id="Rb2814baf75284f8b"/>
    <p:sldLayoutId xmlns:r="http://schemas.openxmlformats.org/officeDocument/2006/relationships" id="2147483651" r:id="Rd27c1930792c439a"/>
    <p:sldLayoutId xmlns:r="http://schemas.openxmlformats.org/officeDocument/2006/relationships" id="2147483652" r:id="Rb3edf3edfd2444ed"/>
    <p:sldLayoutId xmlns:r="http://schemas.openxmlformats.org/officeDocument/2006/relationships" id="2147483653" r:id="R9daa797d614a40d3"/>
    <p:sldLayoutId xmlns:r="http://schemas.openxmlformats.org/officeDocument/2006/relationships" id="2147483654" r:id="R670b74c610f9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4773c16e8400f" /><Relationship Type="http://schemas.openxmlformats.org/officeDocument/2006/relationships/notesSlide" Target="/ppt/notesSlides/notesSlide1.xml" Id="Rb7799de3616d4e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1294e02798489e" /><Relationship Type="http://schemas.openxmlformats.org/officeDocument/2006/relationships/notesSlide" Target="/ppt/notesSlides/notesSlide2.xml" Id="Raaec2f64cf1f45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4695bfa4e47d8" /><Relationship Type="http://schemas.openxmlformats.org/officeDocument/2006/relationships/notesSlide" Target="/ppt/notesSlides/notesSlide3.xml" Id="R3693ff2d96774a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30864f60b4597" /><Relationship Type="http://schemas.openxmlformats.org/officeDocument/2006/relationships/notesSlide" Target="/ppt/notesSlides/notesSlide4.xml" Id="Rc064775248b542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dd1e8f20a4ef8" /><Relationship Type="http://schemas.openxmlformats.org/officeDocument/2006/relationships/notesSlide" Target="/ppt/notesSlides/notesSlide5.xml" Id="R18eb0a5b35a245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98564a81db45f5" /><Relationship Type="http://schemas.openxmlformats.org/officeDocument/2006/relationships/notesSlide" Target="/ppt/notesSlides/notesSlide6.xml" Id="R042d7738594e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5ca80ef1a4d65" /><Relationship Type="http://schemas.openxmlformats.org/officeDocument/2006/relationships/notesSlide" Target="/ppt/notesSlides/notesSlide7.xml" Id="Rdf0d06a450ac40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df74e39bb84e1b" /><Relationship Type="http://schemas.openxmlformats.org/officeDocument/2006/relationships/notesSlide" Target="/ppt/notesSlides/notesSlide8.xml" Id="R42f570f237b241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b7d8a0889421a" /><Relationship Type="http://schemas.openxmlformats.org/officeDocument/2006/relationships/notesSlide" Target="/ppt/notesSlides/notesSlide9.xml" Id="R7dccca6cc07f40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16009fcfa4593" /><Relationship Type="http://schemas.openxmlformats.org/officeDocument/2006/relationships/notesSlide" Target="/ppt/notesSlides/notesSlide10.xml" Id="Rfaf5b9c7dbca4d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47ed26f8645ad" /><Relationship Type="http://schemas.openxmlformats.org/officeDocument/2006/relationships/notesSlide" Target="/ppt/notesSlides/notesSlide11.xml" Id="Ra26780ad66af4e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1666da88b450e" /><Relationship Type="http://schemas.openxmlformats.org/officeDocument/2006/relationships/notesSlide" Target="/ppt/notesSlides/notesSlide12.xml" Id="R0b713ca23efc48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b5fba63a2433d" /><Relationship Type="http://schemas.openxmlformats.org/officeDocument/2006/relationships/notesSlide" Target="/ppt/notesSlides/notesSlide13.xml" Id="R984d0a72c4d541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c51c07f424cd0" /><Relationship Type="http://schemas.openxmlformats.org/officeDocument/2006/relationships/notesSlide" Target="/ppt/notesSlides/notesSlide14.xml" Id="Rdb89d0ab434e4b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ea8948b1544a7" /><Relationship Type="http://schemas.openxmlformats.org/officeDocument/2006/relationships/notesSlide" Target="/ppt/notesSlides/notesSlide15.xml" Id="R91f08147d8ca4a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2f582974d4cf3" /><Relationship Type="http://schemas.openxmlformats.org/officeDocument/2006/relationships/notesSlide" Target="/ppt/notesSlides/notesSlide16.xml" Id="R95d4d32b0a2545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8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F0E83-E270-4654-8E81-3594D1A8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84651-04B1-44F4-AFD1-EE736C1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190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4FE72-D11B-4D97-884A-6E65BA8F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D7C7"/>
                </a:solidFill>
                <a:latin typeface="Arial"/>
                <a:ea typeface="Arial"/>
                <a:cs typeface="Arial"/>
              </a:rPr>
              <a:t>PROJECT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53A64-22FF-4399-AA18-7C649B2B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22038-57B5-45E8-A687-7FFFC7AB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657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E7F1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E7F1E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F1EA"/>
                </a:solidFill>
                <a:latin typeface="Arial"/>
                <a:ea typeface="Arial"/>
                <a:cs typeface="Arial"/>
              </a:rPr>
              <a:t>Personal finance</a:t>
            </a:r>
          </a:p>
          <a:p xmlns:a="http://schemas.openxmlformats.org/drawingml/2006/main">
            <a:pPr>
              <a:defRPr sz="3150" b="1">
                <a:solidFill>
                  <a:srgbClr val="E7F1E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F1EA"/>
                </a:solidFill>
                <a:latin typeface="Arial"/>
                <a:ea typeface="Arial"/>
                <a:cs typeface="Arial"/>
              </a:rPr>
              <a:t>management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F4C7A-0212-4311-B0AB-128F3345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628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C1D5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>
                <a:solidFill>
                  <a:srgbClr val="C1D5CE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C1D5CE"/>
                </a:solidFill>
                <a:latin typeface="Arial"/>
                <a:ea typeface="Arial"/>
                <a:cs typeface="Arial"/>
              </a:rPr>
              <a:t>A walkthrough of the user journey, admin tools, data flow, security and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EE47F-ACD7-4495-8E90-00E0F77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>
                <a:solidFill>
                  <a:srgbClr val="D7E7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>
                <a:solidFill>
                  <a:srgbClr val="D7E7E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D7E7E0"/>
                </a:solidFill>
                <a:latin typeface="Arial"/>
                <a:ea typeface="Arial"/>
                <a:cs typeface="Arial"/>
              </a:rPr>
              <a:t>Project presentation  •  Devansh Chaudhary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75B51-B742-43DF-B4C3-2224E134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478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D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F3DB2-C4A4-4318-A581-91EB4C2E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478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BFB2B-E31E-486D-B053-44066DF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C1D5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C1D5C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1D5CE"/>
                </a:solidFill>
                <a:latin typeface="Arial"/>
                <a:ea typeface="Arial"/>
                <a:cs typeface="Arial"/>
              </a:rPr>
              <a:t>Expenses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D216E-972C-4EFC-A888-053E8F1E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81275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584F6-7AD6-4862-96CE-464BFA6D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432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D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E2243-C41A-4E1D-982F-38D4A968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C29D7-AF41-4C0D-8B22-875CE44E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C1D5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C1D5C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1D5CE"/>
                </a:solidFill>
                <a:latin typeface="Arial"/>
                <a:ea typeface="Arial"/>
                <a:cs typeface="Arial"/>
              </a:rPr>
              <a:t>Budgets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04627-BD75-42B2-A1FF-9EF45816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76675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2E68D-031F-4746-86C7-27A8BBAF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386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6D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560802-0CE7-4D22-BD40-D5F00C5B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38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A49CB-6603-4718-87C4-7121FEDD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482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C1D5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C1D5CE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C1D5CE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5427521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E0CE6-A552-44D5-B5E0-97AE136E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58FB4-34EC-429A-A5C4-C75EF638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Product purpose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AD46B-ECFF-401A-910B-DA4819A6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One workspace for everyday spending, budgets and savings goals.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04D36-A8E5-4C31-8B5C-A0AA6D73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54BA3-C63B-4DBB-9F02-2F1075BA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1971F-DC0F-455A-BA1C-6F85EBA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C01DC-8826-4F8F-86CA-68015789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71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Finora helps a person answer three practical questions: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8883C-BA19-4308-AFFF-FBD655D9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1D2E8-395D-490E-B473-5613982B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095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4CCBD-DBC2-439B-96F0-FEBA8D74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What did I spend?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6FE8C-A164-4053-A408-7DEC6FB1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Record and find expenses by category and 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9DFB1-F5FB-43F3-8AFE-79B0A5D7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8887C-6193-4DF5-A103-47389F0E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3095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0C5C1-3DA8-4D34-965A-098E0DF5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Am I on plan?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F1218-695F-490E-BC73-5F633D34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719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Compare category spending with budget limits.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11FA0-B705-4744-A1E6-77BE95F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F138D-76A6-4E39-A241-F331733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3095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C24CD1-DE76-49B2-994D-8EBDB81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2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What am I saving for?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17F67-C62D-4C70-BEA4-AAB519C3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719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Track saved amounts against a target and deadline.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C57F8-28D8-4232-8B25-5FF54B29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Java web app  •  Separate user and administrator areas  •  JDBC + SQLite</a:t>
            </a:r>
          </a:p>
        </p:txBody>
      </p:sp>
    </p:spTree>
    <p:extLst>
      <p:ext uri="{BB962C8B-B14F-4D97-AF65-F5344CB8AC3E}">
        <p14:creationId xmlns:p14="http://schemas.microsoft.com/office/powerpoint/2010/main" val="228930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45900-0C8A-4B51-B736-D590E557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0EAD0-16C3-4C4D-AE3B-0AE7296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Two roles, two workspaces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4CA3C-7EB5-454A-B049-6625D5C3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Users manage their own finances; administrators manage platform access and settings.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DA9F9-B9A5-4C42-948F-124C277D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54876-DC95-4E05-AB3C-C2F2D642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2976D-4781-42FF-9393-659E3757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544FD-BD42-4F75-A6DF-53F5542B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81834-0D5D-45A0-981B-91A42DC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Personal finance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B8545-7B45-404D-9DF8-DA96CEA6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4572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Register and sign in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Create, edit, delete and filter expenses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Set category budgets and track remaining amounts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Create savings goals and recurring reminders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Review summaries, categories and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82804-F74C-44AD-A5D5-E99E7216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4310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8BD2D-4F19-4BF3-88BF-D4290F19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288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B4876-97DE-4DCF-9A5E-03A49E94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288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Platform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B2FE1D-2790-4CCC-9C58-9567C895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4667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Manage accounts, roles and active status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Control registration and maintenance mode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Enable or disable budgets, goals and reports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Review account/security activity and export audit CSV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Check encryption status and rotate the data key</a:t>
            </a:r>
          </a:p>
        </p:txBody>
      </p:sp>
    </p:spTree>
    <p:extLst>
      <p:ext uri="{BB962C8B-B14F-4D97-AF65-F5344CB8AC3E}">
        <p14:creationId xmlns:p14="http://schemas.microsoft.com/office/powerpoint/2010/main" val="1316938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49F761-1BD5-422A-A69C-1614B7A3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B2DC6-04F5-42D1-91FE-D34EAB4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User journey: expense to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8B1FE-FEC1-4E73-B5CD-E1CC21A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A saved expense feeds history, summaries and matching budgets.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D8430-1EA0-4EB7-B680-D3C0151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E966E-C824-4923-ADA6-11EAABB5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C6A98-A32B-45AB-A706-104042F5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20D6E71B-AFF0-44B2-AE98-FEE9D3B5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8859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DCEF0-271D-4CDD-A369-2095121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3AB3D-CFD3-48F2-B632-EF375A19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CB4CD-69A9-4E80-BD47-A6256F74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Open the user workspace.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0490E-F9D5-4B5D-9492-9E377444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670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step-2">
            <a:extLst xmlns:a="http://schemas.openxmlformats.org/drawingml/2006/main">
              <a:ext uri="{FF2B5EF4-FFF2-40B4-BE49-F238E27FC236}">
                <a16:creationId xmlns:a16="http://schemas.microsoft.com/office/drawing/2014/main" id="{17E155D7-DA33-4725-8DBD-EB731812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18859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7B85C-32DC-44F9-961E-A03DFE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47DC1-739B-4F83-81EF-AA4C0BBE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98228-9648-46E7-9722-20FBB9BF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Choose form or quick entry.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EE471-9B56-4441-BA6C-E2C60335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2670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tep-3">
            <a:extLst xmlns:a="http://schemas.openxmlformats.org/drawingml/2006/main">
              <a:ext uri="{FF2B5EF4-FFF2-40B4-BE49-F238E27FC236}">
                <a16:creationId xmlns:a16="http://schemas.microsoft.com/office/drawing/2014/main" id="{A3AA0E07-4029-4309-AFDE-441DEB92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8859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19E2B-AEA5-4B40-96C5-BE1D332C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77F8E-5F7F-4500-82D9-8D55069A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861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EC9F25-B12B-4C52-B4E7-4933507E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19500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Check category, amount and date.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7A359F-8288-4D48-BE67-685884BE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670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step-4">
            <a:extLst xmlns:a="http://schemas.openxmlformats.org/drawingml/2006/main">
              <a:ext uri="{FF2B5EF4-FFF2-40B4-BE49-F238E27FC236}">
                <a16:creationId xmlns:a16="http://schemas.microsoft.com/office/drawing/2014/main" id="{3BE94677-109C-4918-80A2-8E6A0A3A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8859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DECE5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27B03-7645-4483-94F0-8AF37F8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41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1F014-F04C-40AF-A013-5B5413D9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861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11C81-E04A-4274-8A5B-83C8679C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0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Validate and store the record.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84CC64-F938-48A9-B4A8-991EF6EF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267075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step-5">
            <a:extLst xmlns:a="http://schemas.openxmlformats.org/drawingml/2006/main">
              <a:ext uri="{FF2B5EF4-FFF2-40B4-BE49-F238E27FC236}">
                <a16:creationId xmlns:a16="http://schemas.microsoft.com/office/drawing/2014/main" id="{9CCD2711-4618-4884-BD35-89EB5792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71750"/>
            <a:ext cx="18859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3AF603-2816-48C1-A0D0-042C0306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241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65F821-B512-4332-B936-54973CB6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861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See impact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2157F-1533-40A7-953F-5DDBCC94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1543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Refresh totals and budget progress.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CFB9AE-30A4-4C51-AD29-097985C1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Expense changes are reflected in the summaries that use its category and date.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4883C-6C57-4B9F-979C-FDEB111B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The user checks the entered values and explicitly saves the record.</a:t>
            </a:r>
          </a:p>
        </p:txBody>
      </p:sp>
    </p:spTree>
    <p:extLst>
      <p:ext uri="{BB962C8B-B14F-4D97-AF65-F5344CB8AC3E}">
        <p14:creationId xmlns:p14="http://schemas.microsoft.com/office/powerpoint/2010/main" val="736258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17C06-E855-49D3-9F42-D757A9DC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DD41-B90B-4D76-8DEF-D20BE550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Dashboard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4E508-70F0-4406-93BD-5D575E49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A quick read on recent activity and current plans.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5605E-E390-4E1B-AFA6-FB6C2D85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BE93D-B6B4-4827-AA77-25A6BA4C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B3F42-8E93-4498-A19E-11AD7B34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FFD32-6B17-440E-8404-B47AB689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DASHBOARD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C97A9-757F-4402-B4EB-FD69744C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WHAT THE USER SEES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956A1-0133-40D7-BF25-298F30AC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B130F-0364-4734-9CE2-46AAA2C3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88AC4-3667-45C6-880B-337A982A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Monthly spending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A9C7B-9B1A-4F55-88FB-9FBA4819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9555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Total of recorded expenses for the current month.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CEA14-77A2-4EF2-A151-EA8D082E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5238D-4E53-4806-95CA-D1979B7B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C253F0-7277-45D4-9A57-0B012096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242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Recent expenses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A359C-2B94-496E-ACE1-C216CE6E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242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Latest transactions, with a route to the full history.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B1EED-B3C5-4BB2-9BC2-AE75A31C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0F7F8-4C01-4399-AA14-F6D2156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0F40B-5C5A-4E99-9E4D-5DCA9C0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Spending by category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79FE9-3970-4A99-8E89-9BFB5240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529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A category breakdown for the current month.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5C8F5-FA5B-4CA9-B273-39CECEA5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38491-52C9-4C68-9E37-642BD939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72F2C-F211-4D26-AA1E-E87CD3BB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8157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Budgets and goals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A8E18-176C-411C-8F48-E660D070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8157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Progress indicators, remaining budget and goal status.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9307B2-B7E0-4B64-B7EE-BC5829D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1C1DA-FB5E-4519-BAC9-FB789163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Dashboard totals are derived from saved, owner-scoped finance records.</a:t>
            </a:r>
          </a:p>
        </p:txBody>
      </p:sp>
    </p:spTree>
    <p:extLst>
      <p:ext uri="{BB962C8B-B14F-4D97-AF65-F5344CB8AC3E}">
        <p14:creationId xmlns:p14="http://schemas.microsoft.com/office/powerpoint/2010/main" val="1602659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40E31-E313-4AB6-AE2A-B155C25D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99CC3-0E25-4898-BFC4-42B7A4D5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Expense tracking and quick entry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9F379-2B70-4618-ABD0-F0028DA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Record an expense, then search or filter its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046EB-39BB-4F92-8A76-A1842FD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580C5-82B3-4E34-A9F7-D6398953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82CF8-FDCF-4E8D-92A1-3F2E569B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4503D-1793-468E-B656-7ACE4DB9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EXPENSE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4273E-2FD5-4983-A7A8-825FBF22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149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Add, edit and delete expense records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Choose a category and transaction date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Filter by category and date range; view the filtered total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Search by description, category, amount or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AB13A-17A8-4C93-8E5B-C6BFD1A8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71675"/>
            <a:ext cx="190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02E47-05BC-4115-B73C-82118F4D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QUICK ENTRY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2E8AB-4F4C-4084-9F67-269EB2AE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574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“Milk, 36 rupees, food, today.”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6B343-35F5-46D0-9B7C-35652C60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The text parser fills the form fields; the user reviews and saves.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F2694-DE1B-485E-AD1B-DD734BAA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38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0A104-FB4F-4C46-82F0-E6412149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VOICE INPUT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A045E-2BE8-4BCD-8EC1-2562E98E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On Mac, Dictation can type into quick entry. Browser speech recognition is not part of the current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95452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A4810-BD59-48A4-B0E2-E19F09D0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4C1F4-2707-4DA6-9602-31CD3C4E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Budget tracking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8027F-A3DE-4AF5-90D3-A5723A22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A budget compares a category limit with matching expenses inside its date window.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EB863-2689-4741-A2F9-D66870FD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E0D76-0A89-4300-B1A8-A186EBD6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0F7A5-67A5-4B6E-A885-7B054A81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6B142-554B-44D0-BC77-679B3C4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B220D-4914-493A-BA2A-B630C2F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Set a category amount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D2E19-44BC-4689-B2E5-9EC6B89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0925"/>
            <a:ext cx="304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Choose the spending cap and its start/end 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076F4-E90E-4A1F-8FDA-9AB7B9FE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0289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E8AC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E8AC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AC4B"/>
                </a:solidFill>
                <a:latin typeface="Arial"/>
                <a:ea typeface="Arial"/>
                <a:cs typeface="Arial"/>
              </a:rPr>
              <a:t>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A5A37-3B09-4CC3-8603-C9AF2829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SPENT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6A870-7200-4503-B077-D526085B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Sum matching expenses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773B5-8C99-4310-A3F0-C0C7CDCF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90925"/>
            <a:ext cx="304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Count expenses in that category during the selected range.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7EE83-4FFA-4806-98A3-C5C1C715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8950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E8AC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E8AC4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AC4B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1E51CA-3B5C-4840-B40F-DC91554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C66A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66A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6A55"/>
                </a:solidFill>
                <a:latin typeface="Arial"/>
                <a:ea typeface="Arial"/>
                <a:cs typeface="Arial"/>
              </a:rPr>
              <a:t>REMAINING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0F51A-55D9-4713-9676-3DFEBC9E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194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Show what is left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06541-DC35-4EA2-9C07-248DAAF9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90925"/>
            <a:ext cx="304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Limit minus eligible spending, with percentage progress.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27A5C-2133-4D66-A503-B86A5255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1040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CD77BC-A396-4088-B7E4-9AAB3D2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A transaction date on either boundary is included in the budget period.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B1919-B8C6-4679-871A-ABB78C2D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Users can create, edit and delete budgets; the dashboard and budget page show progress.</a:t>
            </a:r>
          </a:p>
        </p:txBody>
      </p:sp>
    </p:spTree>
    <p:extLst>
      <p:ext uri="{BB962C8B-B14F-4D97-AF65-F5344CB8AC3E}">
        <p14:creationId xmlns:p14="http://schemas.microsoft.com/office/powerpoint/2010/main" val="260358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D79C1-1783-4218-A7B4-3E256B9B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393E0-40EB-4CA5-92C1-B7E0E04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Financial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F95D0-9898-44F6-8396-E1CD3F4A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Make a savings target visible and track its progress over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BD14A-6714-4100-B9AA-FB8B789C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EEF19-EC92-46F2-820C-EBB9B192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6D0C2-76F4-4E32-A777-12C53D70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650B7-8B48-450F-AF99-B2BA9D3A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A goal brings three values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941D2-7717-4C8E-933D-C7679783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FA85B-D5FB-4E5C-95C0-A35CDDCB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34AA0-3641-4E3B-9227-602981C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965DF-E794-4C30-AE74-79DA56B6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The amount the user wants to save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980AA-7D71-4F47-87D9-E06A9D9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38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C4160-E217-417F-8D20-A7252AE6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38525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8B2E7-38C8-4D49-A7E8-ED8308F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SAVED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B81F3-03D3-4A2E-BE4D-0FAF34D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43375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The current amount set aside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69297-E4F0-405D-BCDF-1F857440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38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D6701B-897A-4200-8FB1-41427392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38525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0B817-1D30-4696-B901-BF94F924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6712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9AD818-2B83-4885-B207-CC103D6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300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The date the user is working toward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E45DD-B09F-4651-AF8B-9A0464F8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344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6035C-3908-49EF-A874-671F364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43525"/>
            <a:ext cx="988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Users can create, edit and track goals; the app shows progress and achievement summaries.</a:t>
            </a:r>
          </a:p>
        </p:txBody>
      </p:sp>
    </p:spTree>
    <p:extLst>
      <p:ext uri="{BB962C8B-B14F-4D97-AF65-F5344CB8AC3E}">
        <p14:creationId xmlns:p14="http://schemas.microsoft.com/office/powerpoint/2010/main" val="862531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521ACB-897E-4CFA-801A-2306D77E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6AB15-84DF-488D-9565-A8E174E2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Recurring expense reminders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A937B-7C7E-420F-8EEE-9B66C347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A schedule reminds the user; each expense occurrence is recorded manually.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34B1F-86B3-4139-9184-5F813A81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FBBC3-3E5D-47FD-9A9D-E5CBF248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2121E-AE4C-45A9-B02B-50DE570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B4013-741E-4101-9767-D61C7ECC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0E488-B644-4580-8E6C-C4321884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736B9-2F97-43C4-B25F-A9981366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Choose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4E301-8759-4FCA-AECD-88CE1453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Weekly, monthly or yearly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4ADD9-29B4-494E-8325-8D1561EB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05150"/>
            <a:ext cx="29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FA9F8-6722-49CB-854C-C59BB78C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5B5A4-DACC-4B77-9D69-021BFF5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24175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3E19A-AE56-4DA1-8CD2-BC35F26F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Reach due 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1129E-7048-4D17-9316-1539EE5F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290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The active reminder becomes due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0273C-2BD5-4526-B5D9-22589A8A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05150"/>
            <a:ext cx="29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097BC-490C-4CE8-A852-1F39E943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C9D99-E800-41A4-9372-B4C7ADA4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24175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573C7-A981-4345-9ACF-38C9E234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Record occurrence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15E32-A25F-4C04-8B74-07B74E46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Review details and save an expense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CE08F-161C-4311-92A0-7786913F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295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A41F1-9351-47C9-AE27-38EF87FA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84374-83AA-483E-BFC1-605E5A46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24175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A582D-CAB7-404C-B1E5-9A981CAC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300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Continue or pause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81534-9458-45B3-8A39-23505C45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2905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Resume later, or delete the reminder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33100-C1A2-4F35-8337-2A4506BC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1DF34D-5E43-48D7-835E-E0BD49B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11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Pausing or deleting a reminder does not remove expenses already recorded.</a:t>
            </a:r>
          </a:p>
        </p:txBody>
      </p:sp>
    </p:spTree>
    <p:extLst>
      <p:ext uri="{BB962C8B-B14F-4D97-AF65-F5344CB8AC3E}">
        <p14:creationId xmlns:p14="http://schemas.microsoft.com/office/powerpoint/2010/main" val="248093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DA563-8050-458E-ADB0-BD922C15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86009-0804-4FB9-8485-9B825D1C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Administrator control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6A17D-C9B3-4661-87D5-BADA1333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Manage access, platform behavior and security activity.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684CB-F9A5-42E6-8596-DE95A5EA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1E6B4-1857-4712-9414-7030F7E8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A4140-E58B-4E08-8888-EF9A1EEB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B1B80-C66A-4908-9DF4-C053BDE9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ACCOUNT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2B5BF-CB37-44C4-8562-E57C56C3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Search and filter user accounts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Create, update, reset or remove accounts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Change roles and active status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Protect the current admin and last active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AAF5D-ADC6-4F1D-AF95-AF375F5D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971675"/>
            <a:ext cx="190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29662-F15E-4DFA-B120-5B22EA86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PLATFORM AND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ADD4A-933B-416E-B947-6D4AEF5D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Open/close registration; enable maintenance mode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Toggle budgets, goals and reports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Review account/security events and failed sign-ins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Export audit CSV; review encryption and rotate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DB54A-0FB1-4431-9327-6854513D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40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F5FAA-0289-4A1B-9843-0492F8BA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Administrator routes are restricted by role checks.</a:t>
            </a:r>
          </a:p>
        </p:txBody>
      </p:sp>
    </p:spTree>
    <p:extLst>
      <p:ext uri="{BB962C8B-B14F-4D97-AF65-F5344CB8AC3E}">
        <p14:creationId xmlns:p14="http://schemas.microsoft.com/office/powerpoint/2010/main" val="12130526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45EAA-E8EE-4E4A-984C-496EA6CA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5F8CB-D47B-4F07-9856-9AE9AE98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How a request moves through Finora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64909-9903-4E35-8606-65A46DEF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The browser submits a request; Java validates, persists and renders the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64646-FFAB-4199-B31F-B32D876A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29989-45AF-48A5-9E2B-D58B8778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4252E-0D83-40EF-BEEE-F0FEC481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05EFE-E82C-49F9-8793-1685FAED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1  Browser and JSP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E4945-3A12-47FC-9A8A-506B1973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85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HTML forms, responsive CSS and small client-side interactions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60276-47FD-4ECF-B22F-02B6967E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2D8D0-AD20-4E95-8313-F3F48B7D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2  Security filters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0CAE3-B7D8-4912-8D9F-CC8E550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431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Session authentication, CSRF verification and security headers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70607-A8C4-4F8A-B2F5-01A888D5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4594A-58BE-46E6-BA65-847C74A8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3  Servlet controllers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48C6F-E73A-4456-B176-144ADBE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0040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AppServlet and AdminServlet route actions and validate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32EF6-FA6A-40DE-B81C-777CE17F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6EE9C-BE83-451B-AA52-A510060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4  Models and DAOs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065FB-F576-4FF7-A7F9-587FD4F4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5762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Java models plus owner-scoped JDBC data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1E507-B14B-46FC-8876-E1F3EFA6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24F1F-853E-4003-BDEC-F6CAE1C5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5  SQLite 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CB092-EFB1-4D33-8449-2E842747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148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Persist users, expenses, budgets, goals, reminders and audit events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D2482-B947-4691-AA1A-1B5D9EAF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B86F8-1436-4A7E-89C5-B2386E4A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720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6  Render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B48CD-9F09-4B74-92B2-6DFA698B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72075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2777B"/>
                </a:solidFill>
                <a:latin typeface="Arial"/>
                <a:ea typeface="Arial"/>
                <a:cs typeface="Arial"/>
              </a:rPr>
              <a:t>Load the updated data and return the matching JSP view</a:t>
            </a:r>
          </a:p>
        </p:txBody>
      </p:sp>
    </p:spTree>
    <p:extLst>
      <p:ext uri="{BB962C8B-B14F-4D97-AF65-F5344CB8AC3E}">
        <p14:creationId xmlns:p14="http://schemas.microsoft.com/office/powerpoint/2010/main" val="15405381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3369C4-20DB-420E-ABB3-12029673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7C610-C607-487C-BD0B-22D31CE9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Data model and ownership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F28D9-4526-47AA-8430-5628C6E5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Financial records are linked to an account and calculated within that owner’s scope.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576D4-542E-40AA-BAEC-5D5AED19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1BCED-3BC6-4343-946B-568C220A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3D3F8-E9A2-4A0B-84C6-D27A0576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2FAB5-446C-4226-A8A5-4E5BF4FE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070D5-F336-4DFA-B220-2B846FDE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3357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81947-E024-48CD-BD60-E59E7F0A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D69DA-34F1-4D38-9B98-8823F0E3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A6AB5-0F6B-46E9-839D-E27D1EA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62200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Login identity, password hash, role and active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99BCE-A124-48B7-9496-CC939DE4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7555A-C718-4296-BECE-A2A75739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expenses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F8E0B-120E-43EE-A27B-3E8F38A7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05125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Owner, description, category, amount in paise and 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40153-5C34-4BA7-80F5-39C1212A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001C6-BF39-4626-8650-6C82867F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budgets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5D0B3-DEB4-44B3-8A85-61A1F05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48050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Owner, category limit and inclusive date 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D7F0F-8782-4A8E-BB04-6D64F064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A7AA9-D862-4A8C-9E6A-A95A1636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goals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C9923-8631-4A94-B212-4D1A1DC5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990975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Owner, title, target amount, saved amount and deadline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841C4-3A1A-4194-82DA-E7533B6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74564C-008C-4A75-BF55-09CA6AAC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recurring_expenses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546C2-AF3B-4197-8BBB-6D1AB780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33900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Owner, active status and encrypted schedule details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F14D3-5E43-4384-AF92-20A042A9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7C299-F0B6-40BE-966E-E87B3CE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audit_logs / app_settings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1FACC2-7CFE-4CF6-B860-D9693610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076825"/>
            <a:ext cx="7381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Account activity and administrator-managed preferences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C1358-502A-4EAF-9B8C-DDEF2B9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84B433-A8D0-4665-B36B-9FDAE326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245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Amounts use integer paise to avoid floating-point rounding in money calculations.</a:t>
            </a:r>
          </a:p>
        </p:txBody>
      </p:sp>
    </p:spTree>
    <p:extLst>
      <p:ext uri="{BB962C8B-B14F-4D97-AF65-F5344CB8AC3E}">
        <p14:creationId xmlns:p14="http://schemas.microsoft.com/office/powerpoint/2010/main" val="4278781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8C56A-01CA-4829-A44D-C553F5A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917DA-0C7E-4841-A841-81F3FE33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Security and privacy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12D6A-A885-4D3C-A864-3C275A12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Controls are applied at sign-in, request handling and finance-data storage.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5AD61-E970-4BC3-AA45-51C1A721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BB4DB-CD01-419C-B3EE-8FEF30E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3AC0D-A110-4E97-B958-BB1D4A7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F8377-B367-4000-A929-3B117ED4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PASSWORDS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1D89B-6DC4-40D8-93D6-A3605A4A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971675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PBKDF2-HMAC-SHA-256 with a random per-account salt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86065-CB7C-4BD6-8A76-7BB694DC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8DE53-58F0-43C9-A5C1-EEDA6CA1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FINANCE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3DAA4-EE15-4B83-BA9B-778F6BA9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71775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AES-256-GCM authenticated encryption; keyring kept outside the web root by default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824B4-3AAB-4FCC-99F5-38B883B2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0B749-00A2-4F1C-8638-07254C57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FC347-4ABA-48F7-A7C8-3ABEF330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71875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Prepared statements, server-side validation, session rotation, CSRF token and security headers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1C722-8ECE-4BA8-BD8E-FE49BF19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2EF48-E4E6-4013-8CC6-C86CFEDE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ACCOUNT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7B4B42-5385-4227-A5ED-455D4273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71975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Role checks for admin routes; user finance queries are owner-scoped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1C5BB-AA7A-4E52-8469-DF9934F0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334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EC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B4BAB-A12B-47BB-AF4D-16E6F128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95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425" b="1">
                <a:solidFill>
                  <a:srgbClr val="694B1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694B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94B17"/>
                </a:solidFill>
                <a:latin typeface="Arial"/>
                <a:ea typeface="Arial"/>
                <a:cs typeface="Arial"/>
              </a:rPr>
              <a:t>Back up the database and encryption keyring separately. The local keyring is suited to a classroom demo, not production.</a:t>
            </a:r>
          </a:p>
        </p:txBody>
      </p:sp>
    </p:spTree>
    <p:extLst>
      <p:ext uri="{BB962C8B-B14F-4D97-AF65-F5344CB8AC3E}">
        <p14:creationId xmlns:p14="http://schemas.microsoft.com/office/powerpoint/2010/main" val="1992283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F8608-BEA5-4A8A-9AFC-6743C287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8A8FD-237B-4F9A-84D0-EBD991C4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Build and run locally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5CD9E-99CD-46ED-BA59-9C1B5012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The packaged WAR runs inside Apache Tomcat.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7B71A-7994-4C17-9E1F-69FB33D2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D28CF-5D07-4D73-9C06-818FA053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730A9-EE8A-426C-83F8-3A886CBA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C97AC-3CB5-46FE-884E-C08C2754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6DF82-7974-4432-ABEE-7566A162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09775"/>
            <a:ext cx="1962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Prepare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40D57-B7B1-4B51-B332-25484848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00250"/>
            <a:ext cx="706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JDK 17+</a:t>
            </a:r>
          </a:p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Maven 3.9+</a:t>
            </a:r>
          </a:p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Tomcat 10.1+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DBDFB-ED8F-492F-A9FF-C672D6B2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9FC16-A752-45C9-8AE2-F74F6C21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883B9-BE26-475A-8157-354027CC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24175"/>
            <a:ext cx="1962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A23CF-B9C0-42B0-938B-F508EA9F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14650"/>
            <a:ext cx="706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Set a unique admin password and choose a persistent database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B4E8C-8BE5-4284-A47C-46B31979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77A0C-3E6A-4926-9629-E46725C1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7B20A-BA48-42EA-AE07-D2B2AF67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38575"/>
            <a:ext cx="1962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6AC2B-1BD2-4974-BAEF-ABDC404F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29050"/>
            <a:ext cx="706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Run the Maven build to create target/finora.war.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C4182-BF14-4BC9-8426-9CF45D38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033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3F688-C335-4B7D-B692-DEF6FEF2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F603E-AD71-4334-981B-FF47A67F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52975"/>
            <a:ext cx="1962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Deploy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A6E12-4EAF-4E0F-816E-56920C82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43450"/>
            <a:ext cx="706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777B"/>
                </a:solidFill>
                <a:latin typeface="Arial"/>
                <a:ea typeface="Arial"/>
                <a:cs typeface="Arial"/>
              </a:rPr>
              <a:t>Copy the WAR into Tomcat and start the server.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0B43D-5194-47FA-930E-8818B262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334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4BB24-5CB9-4D9A-9B0C-26D0F6D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9906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Open locally at  http://localhost:8080/finora/</a:t>
            </a:r>
          </a:p>
        </p:txBody>
      </p:sp>
    </p:spTree>
    <p:extLst>
      <p:ext uri="{BB962C8B-B14F-4D97-AF65-F5344CB8AC3E}">
        <p14:creationId xmlns:p14="http://schemas.microsoft.com/office/powerpoint/2010/main" val="3597465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BCBCE-E86B-49FD-BECE-4DA20BC3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E0A0C-D85B-4B7D-9FEA-0E9A90B2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What client access requires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15807-701D-4937-AD24-969084CC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A public code repository does not itself host the running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224F0-3013-498F-86F9-2988F415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87CDD-857D-4B00-85A9-C572404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BE1DA-DB9A-4B4C-8095-311C7425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D80A0-C3FF-4630-9A28-5570DEE2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401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D38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5E09F-F96C-4710-97AF-0102A879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B6D7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6D7C7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9EB3F-BD3B-4868-AC8F-3754490B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3835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Tomcat deployment at localhost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96328-4B65-4CF1-B995-BFFB58EB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Before clients use it over the internet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F230F-27D4-409C-88E4-00B753E0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Deploy Tomcat on a managed, always-on server and use HTTPS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Store admin credentials and encryption keys in managed secret storage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Use persistent database storage and test separate database/keyring backups</a:t>
            </a:r>
          </a:p>
          <a:p xmlns:a="http://schemas.openxmlformats.org/drawingml/2006/main">
            <a:pPr marL="203200" indent="-101600">
              <a:spcAft>
                <a:spcPts val="900"/>
              </a:spcAft>
              <a:buChar char="•"/>
              <a:defRPr sz="1650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6333B"/>
                </a:solidFill>
                <a:latin typeface="Arial"/>
                <a:ea typeface="Arial"/>
                <a:cs typeface="Arial"/>
              </a:rPr>
              <a:t>Add rate limiting, account recovery and a reviewed privacy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C0A35-1240-40BD-BA68-613BA2EB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1">
                <a:solidFill>
                  <a:srgbClr val="C66A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C66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6A55"/>
                </a:solidFill>
                <a:latin typeface="Arial"/>
                <a:ea typeface="Arial"/>
                <a:cs typeface="Arial"/>
              </a:rPr>
              <a:t>Treat this project as a classroom/demo build until those deployment and privacy steps are completed.</a:t>
            </a:r>
          </a:p>
        </p:txBody>
      </p:sp>
    </p:spTree>
    <p:extLst>
      <p:ext uri="{BB962C8B-B14F-4D97-AF65-F5344CB8AC3E}">
        <p14:creationId xmlns:p14="http://schemas.microsoft.com/office/powerpoint/2010/main" val="9911978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05064-A3F6-4665-9774-A40B4CA4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 /  PROJECT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BF4EE-FEF3-49CA-88CD-AD147C34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Project demo and rubric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0C72F-24D2-475A-8773-704AB2BB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777B"/>
                </a:solidFill>
                <a:latin typeface="Arial"/>
                <a:ea typeface="Arial"/>
                <a:cs typeface="Arial"/>
              </a:rPr>
              <a:t>Show the complete user journey, then connect it to the Java web-project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D5007-B249-4053-8BA6-11C6AF4A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F8401-E9D4-48F7-A3C7-D901D75D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777B"/>
                </a:solidFill>
                <a:latin typeface="Arial"/>
                <a:ea typeface="Arial"/>
                <a:cs typeface="Arial"/>
              </a:rPr>
              <a:t>FINORA  •  PERSONAL FINANCE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ED485-B477-4806-8446-74CF5D51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86525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05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BCEEE-0DB6-4757-8B95-6852A177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SUGGESTED LIVE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18EBF-5A96-4EC8-9948-492B39C9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Sign in  →  Add expense  →  Check budget  →  Update goal  →  Show recurring reminder  →  Open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51AC0-F5E2-4BDC-BBEB-AE5073E3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57FD6-ADC8-43E0-BA30-F802BE40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WEB PROJECT CRITERION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B4E56-9C00-4299-BA5C-45661F7C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97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745F"/>
                </a:solidFill>
                <a:latin typeface="Arial"/>
                <a:ea typeface="Arial"/>
                <a:cs typeface="Arial"/>
              </a:rPr>
              <a:t>FINORA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5C114-6705-40D6-8FB6-58D9B4BE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42917-D5AE-4880-A5FB-B16163A4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4524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Problem understanding &amp; solution design — 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74770-A343-4D3F-9035-AE17B763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User/admin workflows, data model and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035D3-B3F2-496C-9FC2-54245897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8E7EC-A05B-4611-A1CC-49D622A0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4524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Core Java concepts —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9E108-8F3C-4F54-9DE8-1BFF5BA2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05275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Servlets, models, generics, validation and 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351123-EC9C-4A17-80CC-FE5E6ED8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725D7-95FF-4C0B-8391-B2E1A452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4524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Database integration (JDBC) — 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EDD31-504C-4CBB-9FC8-D843B06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619625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SQLite schema, prepared statements and CRUD/aggregation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006F5-09B1-417E-8631-4CADE09F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C1BF6-E2F2-44A1-BFA2-8F3467E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33975"/>
            <a:ext cx="4524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3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333B"/>
                </a:solidFill>
                <a:latin typeface="Arial"/>
                <a:ea typeface="Arial"/>
                <a:cs typeface="Arial"/>
              </a:rPr>
              <a:t>Servlets &amp; web integration — 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E830E-8B5A-47C9-9A0B-F90C4FF8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33975"/>
            <a:ext cx="542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62777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2777B"/>
                </a:solidFill>
                <a:latin typeface="Arial"/>
                <a:ea typeface="Arial"/>
                <a:cs typeface="Arial"/>
              </a:rPr>
              <a:t>Routes, filters, sessions, JSP views and forms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00F08-61C9-47D2-985A-22BA8F01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1F64B7-50CE-4102-8845-918BFFAB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4D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4D43"/>
                </a:solidFill>
                <a:latin typeface="Arial"/>
                <a:ea typeface="Arial"/>
                <a:cs typeface="Arial"/>
              </a:rPr>
              <a:t>Total shown in the web rubric: 33 marks</a:t>
            </a:r>
          </a:p>
        </p:txBody>
      </p:sp>
    </p:spTree>
    <p:extLst>
      <p:ext uri="{BB962C8B-B14F-4D97-AF65-F5344CB8AC3E}">
        <p14:creationId xmlns:p14="http://schemas.microsoft.com/office/powerpoint/2010/main" val="8469831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2026-10-09T06:45:29.5770000Z</dcterms:created>
  <dcterms:modified xsi:type="dcterms:W3CDTF">2026-10-09T06:45:29.5770000Z</dcterms:modified>
</coreProperties>
</file>